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TpwL/yYiknpvDPQC1Kl9nWGJ0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865C94-B729-4ADA-90FA-A74982023A65}">
  <a:tblStyle styleId="{64865C94-B729-4ADA-90FA-A74982023A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400" b="1" dirty="0">
                <a:solidFill>
                  <a:srgbClr val="2B2B2B"/>
                </a:solidFill>
                <a:latin typeface="Arial"/>
              </a:rPr>
              <a:t>Forget-set accuracy vs retrained </a:t>
            </a:r>
          </a:p>
          <a:p>
            <a:r>
              <a:rPr lang="en-GB" sz="1400" b="1" dirty="0">
                <a:solidFill>
                  <a:srgbClr val="2B2B2B"/>
                </a:solidFill>
                <a:latin typeface="Arial"/>
              </a:rPr>
              <a:t>(0 = same)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ResNet18</c:v>
                </c:pt>
              </c:strCache>
            </c:strRef>
          </c:tx>
          <c:spPr>
            <a:solidFill>
              <a:srgbClr val="582C83"/>
            </a:solidFill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6"/>
                <c:pt idx="0">
                  <c:v>5.21</c:v>
                </c:pt>
                <c:pt idx="1">
                  <c:v>0.17</c:v>
                </c:pt>
                <c:pt idx="2">
                  <c:v>1.98</c:v>
                </c:pt>
                <c:pt idx="3">
                  <c:v>0</c:v>
                </c:pt>
                <c:pt idx="4">
                  <c:v>6.22</c:v>
                </c:pt>
                <c:pt idx="5">
                  <c:v>0</c:v>
                </c:pt>
              </c:numLit>
            </c:plus>
            <c:minus>
              <c:numLit>
                <c:formatCode>General</c:formatCode>
                <c:ptCount val="6"/>
                <c:pt idx="0">
                  <c:v>5.21</c:v>
                </c:pt>
                <c:pt idx="1">
                  <c:v>0.17</c:v>
                </c:pt>
                <c:pt idx="2">
                  <c:v>1.98</c:v>
                </c:pt>
                <c:pt idx="3">
                  <c:v>0</c:v>
                </c:pt>
                <c:pt idx="4">
                  <c:v>6.22</c:v>
                </c:pt>
                <c:pt idx="5">
                  <c:v>0</c:v>
                </c:pt>
              </c:numLit>
            </c:minus>
            <c:spPr>
              <a:ln w="15875">
                <a:solidFill>
                  <a:srgbClr val="2B2B2B"/>
                </a:solidFill>
              </a:ln>
            </c:spPr>
          </c:errBars>
          <c:cat>
            <c:strRef>
              <c:f>Sheet1!$A$2:$A$7</c:f>
              <c:strCache>
                <c:ptCount val="6"/>
                <c:pt idx="0">
                  <c:v>FT</c:v>
                </c:pt>
                <c:pt idx="1">
                  <c:v>BadT</c:v>
                </c:pt>
                <c:pt idx="2">
                  <c:v>UNSIR</c:v>
                </c:pt>
                <c:pt idx="3">
                  <c:v>RL</c:v>
                </c:pt>
                <c:pt idx="4">
                  <c:v>SSD</c:v>
                </c:pt>
                <c:pt idx="5">
                  <c:v>LFSSD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29.22</c:v>
                </c:pt>
                <c:pt idx="1">
                  <c:v>0.26</c:v>
                </c:pt>
                <c:pt idx="2">
                  <c:v>89.44</c:v>
                </c:pt>
                <c:pt idx="3">
                  <c:v>0</c:v>
                </c:pt>
                <c:pt idx="4">
                  <c:v>1.97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DC-7E42-B12E-9ABAC22147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ViT</c:v>
                </c:pt>
              </c:strCache>
            </c:strRef>
          </c:tx>
          <c:spPr>
            <a:solidFill>
              <a:srgbClr val="E69F00"/>
            </a:solidFill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6"/>
                <c:pt idx="0">
                  <c:v>0.06</c:v>
                </c:pt>
                <c:pt idx="1">
                  <c:v>5.18</c:v>
                </c:pt>
                <c:pt idx="2">
                  <c:v>4.92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Lit>
            </c:plus>
            <c:minus>
              <c:numLit>
                <c:formatCode>General</c:formatCode>
                <c:ptCount val="6"/>
                <c:pt idx="0">
                  <c:v>0.06</c:v>
                </c:pt>
                <c:pt idx="1">
                  <c:v>5.18</c:v>
                </c:pt>
                <c:pt idx="2">
                  <c:v>4.92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Lit>
            </c:minus>
            <c:spPr>
              <a:ln w="15875">
                <a:solidFill>
                  <a:srgbClr val="2B2B2B"/>
                </a:solidFill>
              </a:ln>
            </c:spPr>
          </c:errBars>
          <c:cat>
            <c:strRef>
              <c:f>Sheet1!$A$2:$A$7</c:f>
              <c:strCache>
                <c:ptCount val="6"/>
                <c:pt idx="0">
                  <c:v>FT</c:v>
                </c:pt>
                <c:pt idx="1">
                  <c:v>BadT</c:v>
                </c:pt>
                <c:pt idx="2">
                  <c:v>UNSIR</c:v>
                </c:pt>
                <c:pt idx="3">
                  <c:v>RL</c:v>
                </c:pt>
                <c:pt idx="4">
                  <c:v>SSD</c:v>
                </c:pt>
                <c:pt idx="5">
                  <c:v>LFSSD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0.03</c:v>
                </c:pt>
                <c:pt idx="1">
                  <c:v>17.899999999999999</c:v>
                </c:pt>
                <c:pt idx="2">
                  <c:v>35.520000000000003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DC-7E42-B12E-9ABAC2214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6B6B"/>
            </a:solidFill>
          </a:ln>
        </c:spPr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100" b="0">
                    <a:solidFill>
                      <a:srgbClr val="2B2B2B"/>
                    </a:solidFill>
                    <a:latin typeface="Arial"/>
                  </a:rPr>
                  <a:t>Δ</a:t>
                </a:r>
                <a:r>
                  <a:rPr lang="en-GB" sz="1100" b="0">
                    <a:solidFill>
                      <a:srgbClr val="2B2B2B"/>
                    </a:solidFill>
                    <a:latin typeface="Arial"/>
                  </a:rPr>
                  <a:t>Acc (pp)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400" b="1">
                <a:solidFill>
                  <a:srgbClr val="2B2B2B"/>
                </a:solidFill>
                <a:latin typeface="Arial"/>
              </a:rPr>
              <a:t>Layer-wise distance vs retrained (lower = closer)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ResNet18</c:v>
                </c:pt>
              </c:strCache>
            </c:strRef>
          </c:tx>
          <c:spPr>
            <a:solidFill>
              <a:srgbClr val="582C83"/>
            </a:solidFill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6"/>
                <c:pt idx="0">
                  <c:v>0.22</c:v>
                </c:pt>
                <c:pt idx="1">
                  <c:v>0.34</c:v>
                </c:pt>
                <c:pt idx="2">
                  <c:v>0.34</c:v>
                </c:pt>
                <c:pt idx="3">
                  <c:v>0.34</c:v>
                </c:pt>
                <c:pt idx="4">
                  <c:v>0.36</c:v>
                </c:pt>
                <c:pt idx="5">
                  <c:v>0.34</c:v>
                </c:pt>
              </c:numLit>
            </c:plus>
            <c:minus>
              <c:numLit>
                <c:formatCode>General</c:formatCode>
                <c:ptCount val="6"/>
                <c:pt idx="0">
                  <c:v>0.22</c:v>
                </c:pt>
                <c:pt idx="1">
                  <c:v>0.34</c:v>
                </c:pt>
                <c:pt idx="2">
                  <c:v>0.34</c:v>
                </c:pt>
                <c:pt idx="3">
                  <c:v>0.34</c:v>
                </c:pt>
                <c:pt idx="4">
                  <c:v>0.36</c:v>
                </c:pt>
                <c:pt idx="5">
                  <c:v>0.34</c:v>
                </c:pt>
              </c:numLit>
            </c:minus>
            <c:spPr>
              <a:ln w="15875">
                <a:solidFill>
                  <a:srgbClr val="2B2B2B"/>
                </a:solidFill>
              </a:ln>
            </c:spPr>
          </c:errBars>
          <c:cat>
            <c:strRef>
              <c:f>Sheet1!$A$2:$A$7</c:f>
              <c:strCache>
                <c:ptCount val="6"/>
                <c:pt idx="0">
                  <c:v>FT</c:v>
                </c:pt>
                <c:pt idx="1">
                  <c:v>BadT</c:v>
                </c:pt>
                <c:pt idx="2">
                  <c:v>UNSIR</c:v>
                </c:pt>
                <c:pt idx="3">
                  <c:v>RL</c:v>
                </c:pt>
                <c:pt idx="4">
                  <c:v>SSD</c:v>
                </c:pt>
                <c:pt idx="5">
                  <c:v>LFSSD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31.52</c:v>
                </c:pt>
                <c:pt idx="1">
                  <c:v>31.72</c:v>
                </c:pt>
                <c:pt idx="2">
                  <c:v>32.25</c:v>
                </c:pt>
                <c:pt idx="3">
                  <c:v>31.98</c:v>
                </c:pt>
                <c:pt idx="4">
                  <c:v>31.55</c:v>
                </c:pt>
                <c:pt idx="5">
                  <c:v>31.56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E-4D4F-82D2-B873BEC9F3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ViT</c:v>
                </c:pt>
              </c:strCache>
            </c:strRef>
          </c:tx>
          <c:spPr>
            <a:solidFill>
              <a:srgbClr val="E69F00"/>
            </a:solidFill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6"/>
                <c:pt idx="0">
                  <c:v>1.31</c:v>
                </c:pt>
                <c:pt idx="1">
                  <c:v>0.12</c:v>
                </c:pt>
                <c:pt idx="2">
                  <c:v>0.18</c:v>
                </c:pt>
                <c:pt idx="3">
                  <c:v>0.18</c:v>
                </c:pt>
                <c:pt idx="4">
                  <c:v>2.58</c:v>
                </c:pt>
                <c:pt idx="5">
                  <c:v>6.07</c:v>
                </c:pt>
              </c:numLit>
            </c:plus>
            <c:minus>
              <c:numLit>
                <c:formatCode>General</c:formatCode>
                <c:ptCount val="6"/>
                <c:pt idx="0">
                  <c:v>1.31</c:v>
                </c:pt>
                <c:pt idx="1">
                  <c:v>0.12</c:v>
                </c:pt>
                <c:pt idx="2">
                  <c:v>0.18</c:v>
                </c:pt>
                <c:pt idx="3">
                  <c:v>0.18</c:v>
                </c:pt>
                <c:pt idx="4">
                  <c:v>2.58</c:v>
                </c:pt>
                <c:pt idx="5">
                  <c:v>6.07</c:v>
                </c:pt>
              </c:numLit>
            </c:minus>
            <c:spPr>
              <a:ln w="15875">
                <a:solidFill>
                  <a:srgbClr val="2B2B2B"/>
                </a:solidFill>
              </a:ln>
            </c:spPr>
          </c:errBars>
          <c:cat>
            <c:strRef>
              <c:f>Sheet1!$A$2:$A$7</c:f>
              <c:strCache>
                <c:ptCount val="6"/>
                <c:pt idx="0">
                  <c:v>FT</c:v>
                </c:pt>
                <c:pt idx="1">
                  <c:v>BadT</c:v>
                </c:pt>
                <c:pt idx="2">
                  <c:v>UNSIR</c:v>
                </c:pt>
                <c:pt idx="3">
                  <c:v>RL</c:v>
                </c:pt>
                <c:pt idx="4">
                  <c:v>SSD</c:v>
                </c:pt>
                <c:pt idx="5">
                  <c:v>LFSSD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105.29</c:v>
                </c:pt>
                <c:pt idx="1">
                  <c:v>33.97</c:v>
                </c:pt>
                <c:pt idx="2">
                  <c:v>39.380000000000003</c:v>
                </c:pt>
                <c:pt idx="3">
                  <c:v>36.92</c:v>
                </c:pt>
                <c:pt idx="4">
                  <c:v>63.38</c:v>
                </c:pt>
                <c:pt idx="5">
                  <c:v>86.77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E-4D4F-82D2-B873BEC9F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6B6B"/>
            </a:solidFill>
          </a:ln>
        </c:spPr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GB" sz="1100" b="0">
                    <a:solidFill>
                      <a:srgbClr val="2B2B2B"/>
                    </a:solidFill>
                    <a:latin typeface="Arial"/>
                  </a:rPr>
                  <a:t>L2 distance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2C83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5852160"/>
            <a:ext cx="9144000" cy="1005840"/>
          </a:xfrm>
          <a:prstGeom prst="rect">
            <a:avLst/>
          </a:prstGeom>
          <a:solidFill>
            <a:srgbClr val="4221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 descr="/home/claude/lu_log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502920"/>
            <a:ext cx="2148840" cy="539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C9EA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D8C9EA"/>
                </a:solidFill>
                <a:latin typeface="Arial"/>
                <a:ea typeface="Arial"/>
                <a:cs typeface="Arial"/>
                <a:sym typeface="Arial"/>
              </a:rPr>
              <a:t>WIPE-OUT 2  ·  WORKSHOP ON MACHINE UNLEARNING AND PRIVACY PRESERVATION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1645920"/>
            <a:ext cx="786384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SUPREME: A Multi-GPU Framework for Reproducible Image Unlearning Method Evaluation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3650000"/>
            <a:ext cx="786384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Petros Andreou¹</a:t>
            </a:r>
            <a:r>
              <a:rPr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·   Jamie Lanyon¹   ·   Axel Finke¹ ²   ·   Georgina Cosma¹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45000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C9E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D8C9EA"/>
                </a:solidFill>
                <a:latin typeface="Arial"/>
                <a:ea typeface="Arial"/>
                <a:cs typeface="Arial"/>
                <a:sym typeface="Arial"/>
              </a:rPr>
              <a:t>¹ Loughborough University, UK        ² Newcastle University, UK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6144768"/>
            <a:ext cx="5000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C9E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D8C9EA"/>
                </a:solidFill>
                <a:latin typeface="Arial"/>
                <a:ea typeface="Arial"/>
                <a:cs typeface="Arial"/>
                <a:sym typeface="Arial"/>
              </a:rPr>
              <a:t>ECML PKDD 2026  ·  Naples, Italy  ·  7 September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0" y="6053328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42215F"/>
          </a:solidFill>
          <a:ln w="9525" cap="flat" cmpd="sng">
            <a:solidFill>
              <a:srgbClr val="D8C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Paper ID: 125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40080" y="411480"/>
            <a:ext cx="786384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Existing frameworks, and what was missing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40080" y="5070000"/>
            <a:ext cx="78638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640080" y="1480000"/>
            <a:ext cx="786384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Three stages: </a:t>
            </a:r>
            <a:r>
              <a:rPr lang="en-US" sz="15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train, unlearn, evaluate against the retrained model.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Every stage is random, so each has a seed; one seed can mislead [1, 2].</a:t>
            </a:r>
            <a:endParaRPr/>
          </a:p>
        </p:txBody>
      </p:sp>
      <p:graphicFrame>
        <p:nvGraphicFramePr>
          <p:cNvPr id="29" name="Google Shape;29;p2"/>
          <p:cNvGraphicFramePr/>
          <p:nvPr/>
        </p:nvGraphicFramePr>
        <p:xfrm>
          <a:off x="640080" y="22000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{64865C94-B729-4ADA-90FA-A74982023A65}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Framework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Domain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Multi-seed</a:t>
                      </a:r>
                      <a:endParaRPr/>
                    </a:p>
                  </a:txBody>
                  <a:tcPr marL="0" marR="90000" marT="18300" marB="18300" anchor="ctr"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Multi-GPU</a:t>
                      </a:r>
                      <a:endParaRPr/>
                    </a:p>
                  </a:txBody>
                  <a:tcPr marL="0" marR="90000" marT="18300" marB="18300" anchor="ctr"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Multi-precision</a:t>
                      </a:r>
                      <a:endParaRPr/>
                    </a:p>
                  </a:txBody>
                  <a:tcPr marL="0" marR="90000" marT="18300" marB="18300" anchor="ctr">
                    <a:solidFill>
                      <a:srgbClr val="582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OpenUnlearning [5]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LLMs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MUBox [4]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 classification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ERASURE [3]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 classification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 Unlearn [1]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 classification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SUPREME (ours)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E4D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 classification</a:t>
                      </a:r>
                      <a:endParaRPr/>
                    </a:p>
                  </a:txBody>
                  <a:tcPr marL="180000" marR="90000" marT="18300" marB="18300" anchor="ctr">
                    <a:solidFill>
                      <a:srgbClr val="E4D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E4D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E4D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0" marR="0" marT="18300" marB="18300" anchor="ctr">
                    <a:solidFill>
                      <a:srgbClr val="E4D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Google Shape;30;p2"/>
          <p:cNvSpPr txBox="1"/>
          <p:nvPr/>
        </p:nvSpPr>
        <p:spPr>
          <a:xfrm>
            <a:off x="5140080" y="280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5140080" y="323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5140018" y="3744200"/>
            <a:ext cx="1121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B2B2B"/>
                </a:solidFill>
              </a:rPr>
              <a:t>✓</a:t>
            </a:r>
            <a:endParaRPr sz="1700">
              <a:solidFill>
                <a:srgbClr val="2B2B2B"/>
              </a:solidFill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5140080" y="409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5140080" y="452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6261360" y="280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6261360" y="323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6261360" y="366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6261360" y="409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261360" y="452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7382640" y="280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7382640" y="323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7382640" y="366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7382640" y="409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7382640" y="4520000"/>
            <a:ext cx="112128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40080" y="5140000"/>
            <a:ext cx="7863840" cy="1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[1]  Cadet et al.: Deep Unlearn: benchmarking machine unlearning for image classification. EuroS&amp;P (2025)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[2]  Lanyon, Finke, Andreou, Cosma: On the importance of multiple training seeds for evaluating machine unlearning. WIPE-OUT 2026, this workshop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[3]  D’Angelo et al.: How to make reproducible research in machine unlearning with ERASURE. IJCAI (2025)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[4]  Li et al.: MUBox: a critical evaluation framework of deep machine unlearning. SACMAT (2025)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[5]  Dorna et al.: OpenUnlearning: accelerating LLM unlearning via unified benchmarking of methods and metrics. NeurIPS D&amp;B (2025)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SUPREME framework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40080" y="1200000"/>
            <a:ext cx="7863840" cy="524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640080" y="1250000"/>
            <a:ext cx="786384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training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000000" y="1450000"/>
            <a:ext cx="5460000" cy="492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3000000" y="1500000"/>
            <a:ext cx="546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forget target c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060000" y="1700000"/>
            <a:ext cx="5340000" cy="460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3060000" y="1750000"/>
            <a:ext cx="534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unlearning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120000" y="1950000"/>
            <a:ext cx="5220000" cy="390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120000" y="2000000"/>
            <a:ext cx="522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unlearning method a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740000" y="2180000"/>
            <a:ext cx="2540000" cy="365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5740000" y="2230000"/>
            <a:ext cx="254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evaluation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20000" y="1700000"/>
            <a:ext cx="2140000" cy="40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720000" y="1770000"/>
            <a:ext cx="214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1: Training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480000" y="2225000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66" name="Google Shape;66;p3"/>
          <p:cNvCxnSpPr/>
          <p:nvPr/>
        </p:nvCxnSpPr>
        <p:spPr>
          <a:xfrm>
            <a:off x="1790000" y="2485000"/>
            <a:ext cx="0" cy="305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7" name="Google Shape;67;p3"/>
          <p:cNvSpPr/>
          <p:nvPr/>
        </p:nvSpPr>
        <p:spPr>
          <a:xfrm>
            <a:off x="920000" y="2790000"/>
            <a:ext cx="174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68" name="Google Shape;68;p3"/>
          <p:cNvCxnSpPr/>
          <p:nvPr/>
        </p:nvCxnSpPr>
        <p:spPr>
          <a:xfrm>
            <a:off x="1790000" y="3050000"/>
            <a:ext cx="0" cy="305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9" name="Google Shape;69;p3"/>
          <p:cNvSpPr/>
          <p:nvPr/>
        </p:nvSpPr>
        <p:spPr>
          <a:xfrm>
            <a:off x="820000" y="3355000"/>
            <a:ext cx="19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820000" y="3380000"/>
            <a:ext cx="19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50000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486666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123332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720000" y="3957500"/>
            <a:ext cx="214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20000" y="4180000"/>
            <a:ext cx="19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820000" y="4205000"/>
            <a:ext cx="19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0000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486666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123332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80" name="Google Shape;80;p3"/>
          <p:cNvCxnSpPr/>
          <p:nvPr/>
        </p:nvCxnSpPr>
        <p:spPr>
          <a:xfrm>
            <a:off x="1020000" y="4862500"/>
            <a:ext cx="154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960000" y="479250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2500000" y="479250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720000" y="4882500"/>
            <a:ext cx="21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 synchronisation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20000" y="5430000"/>
            <a:ext cx="194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Train(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180000" y="2200000"/>
            <a:ext cx="2400000" cy="35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180000" y="2270000"/>
            <a:ext cx="24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2: Unlearning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070000" y="2558571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88" name="Google Shape;88;p3"/>
          <p:cNvCxnSpPr/>
          <p:nvPr/>
        </p:nvCxnSpPr>
        <p:spPr>
          <a:xfrm>
            <a:off x="4380000" y="2818571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" name="Google Shape;89;p3"/>
          <p:cNvSpPr/>
          <p:nvPr/>
        </p:nvSpPr>
        <p:spPr>
          <a:xfrm>
            <a:off x="3280000" y="2957142"/>
            <a:ext cx="2200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(targeted or random-sample scenario)</a:t>
            </a:r>
            <a:endParaRPr/>
          </a:p>
        </p:txBody>
      </p:sp>
      <p:cxnSp>
        <p:nvCxnSpPr>
          <p:cNvPr id="90" name="Google Shape;90;p3"/>
          <p:cNvCxnSpPr/>
          <p:nvPr/>
        </p:nvCxnSpPr>
        <p:spPr>
          <a:xfrm>
            <a:off x="4380000" y="3317142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1" name="Google Shape;91;p3"/>
          <p:cNvSpPr/>
          <p:nvPr/>
        </p:nvSpPr>
        <p:spPr>
          <a:xfrm>
            <a:off x="3380000" y="3455713"/>
            <a:ext cx="200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92" name="Google Shape;92;p3"/>
          <p:cNvCxnSpPr/>
          <p:nvPr/>
        </p:nvCxnSpPr>
        <p:spPr>
          <a:xfrm>
            <a:off x="4380000" y="3715713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3" name="Google Shape;93;p3"/>
          <p:cNvSpPr/>
          <p:nvPr/>
        </p:nvSpPr>
        <p:spPr>
          <a:xfrm>
            <a:off x="3280000" y="3854284"/>
            <a:ext cx="220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280000" y="3879284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310000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033333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756666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3180000" y="4373569"/>
            <a:ext cx="240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280000" y="4512855"/>
            <a:ext cx="220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3280000" y="4537855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3310000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033333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756666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104" name="Google Shape;104;p3"/>
          <p:cNvCxnSpPr/>
          <p:nvPr/>
        </p:nvCxnSpPr>
        <p:spPr>
          <a:xfrm>
            <a:off x="3480000" y="5112140"/>
            <a:ext cx="180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3"/>
          <p:cNvSpPr txBox="1"/>
          <p:nvPr/>
        </p:nvSpPr>
        <p:spPr>
          <a:xfrm>
            <a:off x="3420000" y="504214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5220000" y="504214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3180000" y="513214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 synchronisation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280000" y="5429996"/>
            <a:ext cx="220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5780000" y="2430000"/>
            <a:ext cx="2440000" cy="33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780000" y="2500000"/>
            <a:ext cx="244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3: Evaluation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305000" y="2755714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075000" y="2755714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endParaRPr/>
          </a:p>
        </p:txBody>
      </p:sp>
      <p:cxnSp>
        <p:nvCxnSpPr>
          <p:cNvPr id="113" name="Google Shape;113;p3"/>
          <p:cNvCxnSpPr/>
          <p:nvPr/>
        </p:nvCxnSpPr>
        <p:spPr>
          <a:xfrm>
            <a:off x="7000000" y="3015714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114;p3"/>
          <p:cNvSpPr/>
          <p:nvPr/>
        </p:nvSpPr>
        <p:spPr>
          <a:xfrm>
            <a:off x="5880000" y="3121428"/>
            <a:ext cx="2240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(matching the forget target)</a:t>
            </a:r>
            <a:endParaRPr/>
          </a:p>
        </p:txBody>
      </p:sp>
      <p:cxnSp>
        <p:nvCxnSpPr>
          <p:cNvPr id="115" name="Google Shape;115;p3"/>
          <p:cNvCxnSpPr/>
          <p:nvPr/>
        </p:nvCxnSpPr>
        <p:spPr>
          <a:xfrm>
            <a:off x="7000000" y="3481428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6" name="Google Shape;116;p3"/>
          <p:cNvSpPr/>
          <p:nvPr/>
        </p:nvSpPr>
        <p:spPr>
          <a:xfrm>
            <a:off x="5980000" y="3587142"/>
            <a:ext cx="204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117" name="Google Shape;117;p3"/>
          <p:cNvCxnSpPr/>
          <p:nvPr/>
        </p:nvCxnSpPr>
        <p:spPr>
          <a:xfrm>
            <a:off x="7000000" y="3847142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" name="Google Shape;118;p3"/>
          <p:cNvSpPr/>
          <p:nvPr/>
        </p:nvSpPr>
        <p:spPr>
          <a:xfrm>
            <a:off x="5880000" y="3952856"/>
            <a:ext cx="22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880000" y="3977856"/>
            <a:ext cx="22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910000" y="4187856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015000" y="4187856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5780000" y="4455713"/>
            <a:ext cx="244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880000" y="4578570"/>
            <a:ext cx="22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880000" y="4603570"/>
            <a:ext cx="22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910000" y="4813570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015000" y="4813570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cxnSp>
        <p:nvCxnSpPr>
          <p:cNvPr id="127" name="Google Shape;127;p3"/>
          <p:cNvCxnSpPr/>
          <p:nvPr/>
        </p:nvCxnSpPr>
        <p:spPr>
          <a:xfrm>
            <a:off x="6080000" y="5161427"/>
            <a:ext cx="184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3"/>
          <p:cNvSpPr txBox="1"/>
          <p:nvPr/>
        </p:nvSpPr>
        <p:spPr>
          <a:xfrm>
            <a:off x="6020000" y="5091427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7860000" y="5091427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5780000" y="5181427"/>
            <a:ext cx="24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All-gather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880000" y="5429998"/>
            <a:ext cx="224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Evaluate(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3180000" y="5920000"/>
            <a:ext cx="2400000" cy="31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Train(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cxnSp>
        <p:nvCxnSpPr>
          <p:cNvPr id="133" name="Google Shape;133;p3"/>
          <p:cNvCxnSpPr/>
          <p:nvPr/>
        </p:nvCxnSpPr>
        <p:spPr>
          <a:xfrm>
            <a:off x="1790000" y="5720000"/>
            <a:ext cx="0" cy="240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4" name="Google Shape;134;p3"/>
          <p:cNvCxnSpPr/>
          <p:nvPr/>
        </p:nvCxnSpPr>
        <p:spPr>
          <a:xfrm>
            <a:off x="1790000" y="5960000"/>
            <a:ext cx="114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5" name="Google Shape;135;p3"/>
          <p:cNvCxnSpPr/>
          <p:nvPr/>
        </p:nvCxnSpPr>
        <p:spPr>
          <a:xfrm rot="10800000">
            <a:off x="2930000" y="2688571"/>
            <a:ext cx="0" cy="3271429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6" name="Google Shape;136;p3"/>
          <p:cNvCxnSpPr/>
          <p:nvPr/>
        </p:nvCxnSpPr>
        <p:spPr>
          <a:xfrm>
            <a:off x="2930000" y="2688571"/>
            <a:ext cx="25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7" name="Google Shape;137;p3"/>
          <p:cNvCxnSpPr/>
          <p:nvPr/>
        </p:nvCxnSpPr>
        <p:spPr>
          <a:xfrm>
            <a:off x="5480000" y="5574996"/>
            <a:ext cx="18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8" name="Google Shape;138;p3"/>
          <p:cNvCxnSpPr/>
          <p:nvPr/>
        </p:nvCxnSpPr>
        <p:spPr>
          <a:xfrm>
            <a:off x="5580000" y="6075000"/>
            <a:ext cx="8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9" name="Google Shape;139;p3"/>
          <p:cNvCxnSpPr/>
          <p:nvPr/>
        </p:nvCxnSpPr>
        <p:spPr>
          <a:xfrm rot="10800000">
            <a:off x="5660000" y="2885714"/>
            <a:ext cx="0" cy="3189286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0" name="Google Shape;140;p3"/>
          <p:cNvCxnSpPr/>
          <p:nvPr/>
        </p:nvCxnSpPr>
        <p:spPr>
          <a:xfrm>
            <a:off x="5660000" y="2885714"/>
            <a:ext cx="12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SUPREME framework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40080" y="1200000"/>
            <a:ext cx="7863840" cy="524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640080" y="1250000"/>
            <a:ext cx="786384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training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3000000" y="1450000"/>
            <a:ext cx="5460000" cy="492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3000000" y="1500000"/>
            <a:ext cx="546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forget target c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060000" y="1700000"/>
            <a:ext cx="5340000" cy="460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060000" y="1750000"/>
            <a:ext cx="534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unlearning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3120000" y="1950000"/>
            <a:ext cx="5220000" cy="390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3120000" y="2000000"/>
            <a:ext cx="522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unlearning method a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5740000" y="2180000"/>
            <a:ext cx="2540000" cy="365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740000" y="2230000"/>
            <a:ext cx="254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evaluation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720000" y="1700000"/>
            <a:ext cx="2140000" cy="40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720000" y="1770000"/>
            <a:ext cx="214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1: Training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1480000" y="2225000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1790000" y="2485000"/>
            <a:ext cx="0" cy="305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" name="Google Shape;161;p4"/>
          <p:cNvSpPr/>
          <p:nvPr/>
        </p:nvSpPr>
        <p:spPr>
          <a:xfrm>
            <a:off x="920000" y="2790000"/>
            <a:ext cx="174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1790000" y="3050000"/>
            <a:ext cx="0" cy="305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3" name="Google Shape;163;p4"/>
          <p:cNvSpPr/>
          <p:nvPr/>
        </p:nvSpPr>
        <p:spPr>
          <a:xfrm>
            <a:off x="820000" y="3355000"/>
            <a:ext cx="19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20000" y="3380000"/>
            <a:ext cx="19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50000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1486666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2123332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720000" y="3957500"/>
            <a:ext cx="214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820000" y="4180000"/>
            <a:ext cx="19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820000" y="4205000"/>
            <a:ext cx="19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850000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486666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2123332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174" name="Google Shape;174;p4"/>
          <p:cNvCxnSpPr/>
          <p:nvPr/>
        </p:nvCxnSpPr>
        <p:spPr>
          <a:xfrm>
            <a:off x="1020000" y="4862500"/>
            <a:ext cx="154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p4"/>
          <p:cNvSpPr txBox="1"/>
          <p:nvPr/>
        </p:nvSpPr>
        <p:spPr>
          <a:xfrm>
            <a:off x="960000" y="479250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2500000" y="479250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720000" y="4882500"/>
            <a:ext cx="21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 synchronisation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820000" y="5430000"/>
            <a:ext cx="194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Train(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180000" y="2200000"/>
            <a:ext cx="2400000" cy="35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3180000" y="2270000"/>
            <a:ext cx="24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2: Unlearning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070000" y="2558571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82" name="Google Shape;182;p4"/>
          <p:cNvCxnSpPr/>
          <p:nvPr/>
        </p:nvCxnSpPr>
        <p:spPr>
          <a:xfrm>
            <a:off x="4380000" y="2818571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" name="Google Shape;183;p4"/>
          <p:cNvSpPr/>
          <p:nvPr/>
        </p:nvSpPr>
        <p:spPr>
          <a:xfrm>
            <a:off x="3280000" y="2957142"/>
            <a:ext cx="2200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(targeted or random-sample scenario)</a:t>
            </a:r>
            <a:endParaRPr/>
          </a:p>
        </p:txBody>
      </p:sp>
      <p:cxnSp>
        <p:nvCxnSpPr>
          <p:cNvPr id="184" name="Google Shape;184;p4"/>
          <p:cNvCxnSpPr/>
          <p:nvPr/>
        </p:nvCxnSpPr>
        <p:spPr>
          <a:xfrm>
            <a:off x="4380000" y="3317142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5" name="Google Shape;185;p4"/>
          <p:cNvSpPr/>
          <p:nvPr/>
        </p:nvSpPr>
        <p:spPr>
          <a:xfrm>
            <a:off x="3380000" y="3455713"/>
            <a:ext cx="200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186" name="Google Shape;186;p4"/>
          <p:cNvCxnSpPr/>
          <p:nvPr/>
        </p:nvCxnSpPr>
        <p:spPr>
          <a:xfrm>
            <a:off x="4380000" y="3715713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7" name="Google Shape;187;p4"/>
          <p:cNvSpPr/>
          <p:nvPr/>
        </p:nvSpPr>
        <p:spPr>
          <a:xfrm>
            <a:off x="3280000" y="3854284"/>
            <a:ext cx="220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3280000" y="3879284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3310000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4033333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756666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3180000" y="4373569"/>
            <a:ext cx="240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3280000" y="4512855"/>
            <a:ext cx="220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3280000" y="4537855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3310000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4033333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4756666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198" name="Google Shape;198;p4"/>
          <p:cNvCxnSpPr/>
          <p:nvPr/>
        </p:nvCxnSpPr>
        <p:spPr>
          <a:xfrm>
            <a:off x="3480000" y="5112140"/>
            <a:ext cx="180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4"/>
          <p:cNvSpPr txBox="1"/>
          <p:nvPr/>
        </p:nvSpPr>
        <p:spPr>
          <a:xfrm>
            <a:off x="3420000" y="504214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5220000" y="504214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3180000" y="513214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 synchronisation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3280000" y="5429996"/>
            <a:ext cx="220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5780000" y="2430000"/>
            <a:ext cx="2440000" cy="33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5780000" y="2500000"/>
            <a:ext cx="244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3: Evaluation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6305000" y="2755714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7075000" y="2755714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endParaRPr/>
          </a:p>
        </p:txBody>
      </p:sp>
      <p:cxnSp>
        <p:nvCxnSpPr>
          <p:cNvPr id="207" name="Google Shape;207;p4"/>
          <p:cNvCxnSpPr/>
          <p:nvPr/>
        </p:nvCxnSpPr>
        <p:spPr>
          <a:xfrm>
            <a:off x="7000000" y="3015714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8" name="Google Shape;208;p4"/>
          <p:cNvSpPr/>
          <p:nvPr/>
        </p:nvSpPr>
        <p:spPr>
          <a:xfrm>
            <a:off x="5880000" y="3121428"/>
            <a:ext cx="2240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(matching the forget target)</a:t>
            </a:r>
            <a:endParaRPr/>
          </a:p>
        </p:txBody>
      </p:sp>
      <p:cxnSp>
        <p:nvCxnSpPr>
          <p:cNvPr id="209" name="Google Shape;209;p4"/>
          <p:cNvCxnSpPr/>
          <p:nvPr/>
        </p:nvCxnSpPr>
        <p:spPr>
          <a:xfrm>
            <a:off x="7000000" y="3481428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4"/>
          <p:cNvSpPr/>
          <p:nvPr/>
        </p:nvSpPr>
        <p:spPr>
          <a:xfrm>
            <a:off x="5980000" y="3587142"/>
            <a:ext cx="204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211" name="Google Shape;211;p4"/>
          <p:cNvCxnSpPr/>
          <p:nvPr/>
        </p:nvCxnSpPr>
        <p:spPr>
          <a:xfrm>
            <a:off x="7000000" y="3847142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2" name="Google Shape;212;p4"/>
          <p:cNvSpPr/>
          <p:nvPr/>
        </p:nvSpPr>
        <p:spPr>
          <a:xfrm>
            <a:off x="5880000" y="3952856"/>
            <a:ext cx="22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5880000" y="3977856"/>
            <a:ext cx="22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5910000" y="4187856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7015000" y="4187856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5780000" y="4455713"/>
            <a:ext cx="244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5880000" y="4578570"/>
            <a:ext cx="22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5880000" y="4603570"/>
            <a:ext cx="22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5910000" y="4813570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7015000" y="4813570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cxnSp>
        <p:nvCxnSpPr>
          <p:cNvPr id="221" name="Google Shape;221;p4"/>
          <p:cNvCxnSpPr/>
          <p:nvPr/>
        </p:nvCxnSpPr>
        <p:spPr>
          <a:xfrm>
            <a:off x="6080000" y="5161427"/>
            <a:ext cx="184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4"/>
          <p:cNvSpPr txBox="1"/>
          <p:nvPr/>
        </p:nvSpPr>
        <p:spPr>
          <a:xfrm>
            <a:off x="6020000" y="5091427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7860000" y="5091427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5780000" y="5181427"/>
            <a:ext cx="24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All-gather</a:t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5880000" y="5429998"/>
            <a:ext cx="224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Evaluate(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3180000" y="5920000"/>
            <a:ext cx="2400000" cy="31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Train(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cxnSp>
        <p:nvCxnSpPr>
          <p:cNvPr id="227" name="Google Shape;227;p4"/>
          <p:cNvCxnSpPr/>
          <p:nvPr/>
        </p:nvCxnSpPr>
        <p:spPr>
          <a:xfrm>
            <a:off x="1790000" y="5720000"/>
            <a:ext cx="0" cy="240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8" name="Google Shape;228;p4"/>
          <p:cNvCxnSpPr/>
          <p:nvPr/>
        </p:nvCxnSpPr>
        <p:spPr>
          <a:xfrm>
            <a:off x="1790000" y="5960000"/>
            <a:ext cx="114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9" name="Google Shape;229;p4"/>
          <p:cNvCxnSpPr/>
          <p:nvPr/>
        </p:nvCxnSpPr>
        <p:spPr>
          <a:xfrm rot="10800000">
            <a:off x="2930000" y="2688571"/>
            <a:ext cx="0" cy="3271429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0" name="Google Shape;230;p4"/>
          <p:cNvCxnSpPr/>
          <p:nvPr/>
        </p:nvCxnSpPr>
        <p:spPr>
          <a:xfrm>
            <a:off x="2930000" y="2688571"/>
            <a:ext cx="25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31" name="Google Shape;231;p4"/>
          <p:cNvCxnSpPr/>
          <p:nvPr/>
        </p:nvCxnSpPr>
        <p:spPr>
          <a:xfrm>
            <a:off x="5480000" y="5574996"/>
            <a:ext cx="18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2" name="Google Shape;232;p4"/>
          <p:cNvCxnSpPr/>
          <p:nvPr/>
        </p:nvCxnSpPr>
        <p:spPr>
          <a:xfrm>
            <a:off x="5580000" y="6075000"/>
            <a:ext cx="8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3" name="Google Shape;233;p4"/>
          <p:cNvCxnSpPr/>
          <p:nvPr/>
        </p:nvCxnSpPr>
        <p:spPr>
          <a:xfrm rot="10800000">
            <a:off x="5660000" y="2885714"/>
            <a:ext cx="0" cy="3189286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4" name="Google Shape;234;p4"/>
          <p:cNvCxnSpPr/>
          <p:nvPr/>
        </p:nvCxnSpPr>
        <p:spPr>
          <a:xfrm>
            <a:off x="5660000" y="2885714"/>
            <a:ext cx="12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35" name="Google Shape;235;p4"/>
          <p:cNvSpPr/>
          <p:nvPr/>
        </p:nvSpPr>
        <p:spPr>
          <a:xfrm>
            <a:off x="780000" y="3355000"/>
            <a:ext cx="2020000" cy="1717500"/>
          </a:xfrm>
          <a:prstGeom prst="roundRect">
            <a:avLst>
              <a:gd name="adj" fmla="val 6000"/>
            </a:avLst>
          </a:prstGeom>
          <a:solidFill>
            <a:srgbClr val="FFE066">
              <a:alpha val="34902"/>
            </a:srgbClr>
          </a:solidFill>
          <a:ln w="34925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3240000" y="3854284"/>
            <a:ext cx="2280000" cy="1467856"/>
          </a:xfrm>
          <a:prstGeom prst="roundRect">
            <a:avLst>
              <a:gd name="adj" fmla="val 6000"/>
            </a:avLst>
          </a:prstGeom>
          <a:solidFill>
            <a:srgbClr val="FFE066">
              <a:alpha val="34902"/>
            </a:srgbClr>
          </a:solidFill>
          <a:ln w="34925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5840000" y="3952856"/>
            <a:ext cx="2320000" cy="1418571"/>
          </a:xfrm>
          <a:prstGeom prst="roundRect">
            <a:avLst>
              <a:gd name="adj" fmla="val 6000"/>
            </a:avLst>
          </a:prstGeom>
          <a:solidFill>
            <a:srgbClr val="FFE066">
              <a:alpha val="34902"/>
            </a:srgbClr>
          </a:solidFill>
          <a:ln w="34925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SUPREME framework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640080" y="1200000"/>
            <a:ext cx="7863840" cy="524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3733015" y="1240000"/>
            <a:ext cx="1677970" cy="180000"/>
          </a:xfrm>
          <a:prstGeom prst="roundRect">
            <a:avLst>
              <a:gd name="adj" fmla="val 6000"/>
            </a:avLst>
          </a:prstGeom>
          <a:solidFill>
            <a:srgbClr val="FFE066">
              <a:alpha val="34902"/>
            </a:srgbClr>
          </a:solidFill>
          <a:ln w="34925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640080" y="1250000"/>
            <a:ext cx="786384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training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3000000" y="1450000"/>
            <a:ext cx="5460000" cy="492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3000000" y="1500000"/>
            <a:ext cx="546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forget target c</a:t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3060000" y="1700000"/>
            <a:ext cx="5340000" cy="460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4775445" y="1740000"/>
            <a:ext cx="1909110" cy="180000"/>
          </a:xfrm>
          <a:prstGeom prst="roundRect">
            <a:avLst>
              <a:gd name="adj" fmla="val 6000"/>
            </a:avLst>
          </a:prstGeom>
          <a:solidFill>
            <a:srgbClr val="FFE066">
              <a:alpha val="34902"/>
            </a:srgbClr>
          </a:solidFill>
          <a:ln w="34925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3060000" y="1750000"/>
            <a:ext cx="534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unlearning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3120000" y="1950000"/>
            <a:ext cx="5220000" cy="390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3120000" y="2000000"/>
            <a:ext cx="522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unlearning method a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5740000" y="2180000"/>
            <a:ext cx="2540000" cy="3650000"/>
          </a:xfrm>
          <a:prstGeom prst="roundRect">
            <a:avLst>
              <a:gd name="adj" fmla="val 3000"/>
            </a:avLst>
          </a:prstGeom>
          <a:noFill/>
          <a:ln w="9525" cap="flat" cmpd="sng">
            <a:solidFill>
              <a:srgbClr val="7A7A7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6063065" y="2220000"/>
            <a:ext cx="1893870" cy="180000"/>
          </a:xfrm>
          <a:prstGeom prst="roundRect">
            <a:avLst>
              <a:gd name="adj" fmla="val 6000"/>
            </a:avLst>
          </a:prstGeom>
          <a:solidFill>
            <a:srgbClr val="FFE066">
              <a:alpha val="34902"/>
            </a:srgbClr>
          </a:solidFill>
          <a:ln w="34925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5740000" y="2230000"/>
            <a:ext cx="2540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For each evaluation seed s</a:t>
            </a:r>
            <a:r>
              <a:rPr lang="en-US" sz="1100" b="0" i="1" baseline="-250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720000" y="1700000"/>
            <a:ext cx="2140000" cy="40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720000" y="1770000"/>
            <a:ext cx="214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1: Training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1480000" y="2225000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260" name="Google Shape;260;p5"/>
          <p:cNvCxnSpPr/>
          <p:nvPr/>
        </p:nvCxnSpPr>
        <p:spPr>
          <a:xfrm>
            <a:off x="1790000" y="2485000"/>
            <a:ext cx="0" cy="305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1" name="Google Shape;261;p5"/>
          <p:cNvSpPr/>
          <p:nvPr/>
        </p:nvSpPr>
        <p:spPr>
          <a:xfrm>
            <a:off x="920000" y="2790000"/>
            <a:ext cx="174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262" name="Google Shape;262;p5"/>
          <p:cNvCxnSpPr/>
          <p:nvPr/>
        </p:nvCxnSpPr>
        <p:spPr>
          <a:xfrm>
            <a:off x="1790000" y="3050000"/>
            <a:ext cx="0" cy="305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3" name="Google Shape;263;p5"/>
          <p:cNvSpPr/>
          <p:nvPr/>
        </p:nvSpPr>
        <p:spPr>
          <a:xfrm>
            <a:off x="820000" y="3355000"/>
            <a:ext cx="19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820000" y="3380000"/>
            <a:ext cx="19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850000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1486666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2123332" y="3590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720000" y="3957500"/>
            <a:ext cx="214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820000" y="4180000"/>
            <a:ext cx="19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820000" y="4205000"/>
            <a:ext cx="19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850000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1486666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2123332" y="4415000"/>
            <a:ext cx="606666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274" name="Google Shape;274;p5"/>
          <p:cNvCxnSpPr/>
          <p:nvPr/>
        </p:nvCxnSpPr>
        <p:spPr>
          <a:xfrm>
            <a:off x="1020000" y="4862500"/>
            <a:ext cx="154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5"/>
          <p:cNvSpPr txBox="1"/>
          <p:nvPr/>
        </p:nvSpPr>
        <p:spPr>
          <a:xfrm>
            <a:off x="960000" y="479250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276" name="Google Shape;276;p5"/>
          <p:cNvSpPr txBox="1"/>
          <p:nvPr/>
        </p:nvSpPr>
        <p:spPr>
          <a:xfrm>
            <a:off x="2500000" y="479250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277" name="Google Shape;277;p5"/>
          <p:cNvSpPr txBox="1"/>
          <p:nvPr/>
        </p:nvSpPr>
        <p:spPr>
          <a:xfrm>
            <a:off x="720000" y="4882500"/>
            <a:ext cx="21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 synchronisation</a:t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820000" y="5430000"/>
            <a:ext cx="194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Train(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3180000" y="2200000"/>
            <a:ext cx="2400000" cy="35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3180000" y="2270000"/>
            <a:ext cx="24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2: Unlearning</a:t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4070000" y="2558571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282" name="Google Shape;282;p5"/>
          <p:cNvCxnSpPr/>
          <p:nvPr/>
        </p:nvCxnSpPr>
        <p:spPr>
          <a:xfrm>
            <a:off x="4380000" y="2818571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" name="Google Shape;283;p5"/>
          <p:cNvSpPr/>
          <p:nvPr/>
        </p:nvSpPr>
        <p:spPr>
          <a:xfrm>
            <a:off x="3280000" y="2957142"/>
            <a:ext cx="2200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(targeted or random-sample scenario)</a:t>
            </a:r>
            <a:endParaRPr/>
          </a:p>
        </p:txBody>
      </p:sp>
      <p:cxnSp>
        <p:nvCxnSpPr>
          <p:cNvPr id="284" name="Google Shape;284;p5"/>
          <p:cNvCxnSpPr/>
          <p:nvPr/>
        </p:nvCxnSpPr>
        <p:spPr>
          <a:xfrm>
            <a:off x="4380000" y="3317142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5" name="Google Shape;285;p5"/>
          <p:cNvSpPr/>
          <p:nvPr/>
        </p:nvSpPr>
        <p:spPr>
          <a:xfrm>
            <a:off x="3380000" y="3455713"/>
            <a:ext cx="200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286" name="Google Shape;286;p5"/>
          <p:cNvCxnSpPr/>
          <p:nvPr/>
        </p:nvCxnSpPr>
        <p:spPr>
          <a:xfrm>
            <a:off x="4380000" y="3715713"/>
            <a:ext cx="0" cy="138571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7" name="Google Shape;287;p5"/>
          <p:cNvSpPr/>
          <p:nvPr/>
        </p:nvSpPr>
        <p:spPr>
          <a:xfrm>
            <a:off x="3280000" y="3854284"/>
            <a:ext cx="220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3280000" y="3879284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3310000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290" name="Google Shape;290;p5"/>
          <p:cNvSpPr/>
          <p:nvPr/>
        </p:nvSpPr>
        <p:spPr>
          <a:xfrm>
            <a:off x="4033333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291" name="Google Shape;291;p5"/>
          <p:cNvSpPr/>
          <p:nvPr/>
        </p:nvSpPr>
        <p:spPr>
          <a:xfrm>
            <a:off x="4756666" y="4089284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sp>
        <p:nvSpPr>
          <p:cNvPr id="292" name="Google Shape;292;p5"/>
          <p:cNvSpPr txBox="1"/>
          <p:nvPr/>
        </p:nvSpPr>
        <p:spPr>
          <a:xfrm>
            <a:off x="3180000" y="4373569"/>
            <a:ext cx="240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3280000" y="4512855"/>
            <a:ext cx="220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3280000" y="4537855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3310000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4033333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4756666" y="4747855"/>
            <a:ext cx="693333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298" name="Google Shape;298;p5"/>
          <p:cNvCxnSpPr/>
          <p:nvPr/>
        </p:nvCxnSpPr>
        <p:spPr>
          <a:xfrm>
            <a:off x="3480000" y="5112140"/>
            <a:ext cx="180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" name="Google Shape;299;p5"/>
          <p:cNvSpPr txBox="1"/>
          <p:nvPr/>
        </p:nvSpPr>
        <p:spPr>
          <a:xfrm>
            <a:off x="3420000" y="504214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300" name="Google Shape;300;p5"/>
          <p:cNvSpPr txBox="1"/>
          <p:nvPr/>
        </p:nvSpPr>
        <p:spPr>
          <a:xfrm>
            <a:off x="5220000" y="5042140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301" name="Google Shape;301;p5"/>
          <p:cNvSpPr txBox="1"/>
          <p:nvPr/>
        </p:nvSpPr>
        <p:spPr>
          <a:xfrm>
            <a:off x="3180000" y="513214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Gradient synchronisation</a:t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3280000" y="5429996"/>
            <a:ext cx="220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5780000" y="2430000"/>
            <a:ext cx="2440000" cy="33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5780000" y="2500000"/>
            <a:ext cx="244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Stage 3: Evaluation</a:t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6305000" y="2755714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7075000" y="2755714"/>
            <a:ext cx="62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endParaRPr/>
          </a:p>
        </p:txBody>
      </p:sp>
      <p:cxnSp>
        <p:nvCxnSpPr>
          <p:cNvPr id="307" name="Google Shape;307;p5"/>
          <p:cNvCxnSpPr/>
          <p:nvPr/>
        </p:nvCxnSpPr>
        <p:spPr>
          <a:xfrm>
            <a:off x="7000000" y="3015714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8" name="Google Shape;308;p5"/>
          <p:cNvSpPr/>
          <p:nvPr/>
        </p:nvSpPr>
        <p:spPr>
          <a:xfrm>
            <a:off x="5880000" y="3121428"/>
            <a:ext cx="22400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(matching the forget target)</a:t>
            </a:r>
            <a:endParaRPr/>
          </a:p>
        </p:txBody>
      </p:sp>
      <p:cxnSp>
        <p:nvCxnSpPr>
          <p:cNvPr id="309" name="Google Shape;309;p5"/>
          <p:cNvCxnSpPr/>
          <p:nvPr/>
        </p:nvCxnSpPr>
        <p:spPr>
          <a:xfrm>
            <a:off x="7000000" y="3481428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0" name="Google Shape;310;p5"/>
          <p:cNvSpPr/>
          <p:nvPr/>
        </p:nvSpPr>
        <p:spPr>
          <a:xfrm>
            <a:off x="5980000" y="3587142"/>
            <a:ext cx="2040000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DataLoader</a:t>
            </a:r>
            <a:endParaRPr/>
          </a:p>
        </p:txBody>
      </p:sp>
      <p:cxnSp>
        <p:nvCxnSpPr>
          <p:cNvPr id="311" name="Google Shape;311;p5"/>
          <p:cNvCxnSpPr/>
          <p:nvPr/>
        </p:nvCxnSpPr>
        <p:spPr>
          <a:xfrm>
            <a:off x="7000000" y="3847142"/>
            <a:ext cx="0" cy="105714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2" name="Google Shape;312;p5"/>
          <p:cNvSpPr/>
          <p:nvPr/>
        </p:nvSpPr>
        <p:spPr>
          <a:xfrm>
            <a:off x="5880000" y="3952856"/>
            <a:ext cx="22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 txBox="1"/>
          <p:nvPr/>
        </p:nvSpPr>
        <p:spPr>
          <a:xfrm>
            <a:off x="5880000" y="3977856"/>
            <a:ext cx="22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</p:txBody>
      </p:sp>
      <p:sp>
        <p:nvSpPr>
          <p:cNvPr id="314" name="Google Shape;314;p5"/>
          <p:cNvSpPr/>
          <p:nvPr/>
        </p:nvSpPr>
        <p:spPr>
          <a:xfrm>
            <a:off x="5910000" y="4187856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7015000" y="4187856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316" name="Google Shape;316;p5"/>
          <p:cNvSpPr txBox="1"/>
          <p:nvPr/>
        </p:nvSpPr>
        <p:spPr>
          <a:xfrm>
            <a:off x="5780000" y="4455713"/>
            <a:ext cx="244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5880000" y="4578570"/>
            <a:ext cx="2240000" cy="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 txBox="1"/>
          <p:nvPr/>
        </p:nvSpPr>
        <p:spPr>
          <a:xfrm>
            <a:off x="5880000" y="4603570"/>
            <a:ext cx="224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5910000" y="4813570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7015000" y="4813570"/>
            <a:ext cx="1075000" cy="220000"/>
          </a:xfrm>
          <a:prstGeom prst="roundRect">
            <a:avLst>
              <a:gd name="adj" fmla="val 10000"/>
            </a:avLst>
          </a:prstGeom>
          <a:solidFill>
            <a:srgbClr val="E6E6E6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00" tIns="0" rIns="1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95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cxnSp>
        <p:nvCxnSpPr>
          <p:cNvPr id="321" name="Google Shape;321;p5"/>
          <p:cNvCxnSpPr/>
          <p:nvPr/>
        </p:nvCxnSpPr>
        <p:spPr>
          <a:xfrm>
            <a:off x="6080000" y="5161427"/>
            <a:ext cx="1840000" cy="0"/>
          </a:xfrm>
          <a:prstGeom prst="straightConnector1">
            <a:avLst/>
          </a:prstGeom>
          <a:noFill/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5"/>
          <p:cNvSpPr txBox="1"/>
          <p:nvPr/>
        </p:nvSpPr>
        <p:spPr>
          <a:xfrm>
            <a:off x="6020000" y="5091427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323" name="Google Shape;323;p5"/>
          <p:cNvSpPr txBox="1"/>
          <p:nvPr/>
        </p:nvSpPr>
        <p:spPr>
          <a:xfrm>
            <a:off x="7860000" y="5091427"/>
            <a:ext cx="120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▽</a:t>
            </a:r>
            <a:endParaRPr/>
          </a:p>
        </p:txBody>
      </p:sp>
      <p:sp>
        <p:nvSpPr>
          <p:cNvPr id="324" name="Google Shape;324;p5"/>
          <p:cNvSpPr txBox="1"/>
          <p:nvPr/>
        </p:nvSpPr>
        <p:spPr>
          <a:xfrm>
            <a:off x="5780000" y="5181427"/>
            <a:ext cx="24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All-gather</a:t>
            </a:r>
            <a:endParaRPr/>
          </a:p>
        </p:txBody>
      </p:sp>
      <p:sp>
        <p:nvSpPr>
          <p:cNvPr id="325" name="Google Shape;325;p5"/>
          <p:cNvSpPr/>
          <p:nvPr/>
        </p:nvSpPr>
        <p:spPr>
          <a:xfrm>
            <a:off x="5880000" y="5429998"/>
            <a:ext cx="2240000" cy="2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Evaluate(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D′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26" name="Google Shape;326;p5"/>
          <p:cNvSpPr/>
          <p:nvPr/>
        </p:nvSpPr>
        <p:spPr>
          <a:xfrm>
            <a:off x="3180000" y="5920000"/>
            <a:ext cx="2400000" cy="31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000" tIns="0" rIns="3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← Train(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0" i="0" baseline="-25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10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cxnSp>
        <p:nvCxnSpPr>
          <p:cNvPr id="327" name="Google Shape;327;p5"/>
          <p:cNvCxnSpPr/>
          <p:nvPr/>
        </p:nvCxnSpPr>
        <p:spPr>
          <a:xfrm>
            <a:off x="1790000" y="5720000"/>
            <a:ext cx="0" cy="24000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8" name="Google Shape;328;p5"/>
          <p:cNvCxnSpPr/>
          <p:nvPr/>
        </p:nvCxnSpPr>
        <p:spPr>
          <a:xfrm>
            <a:off x="1790000" y="5960000"/>
            <a:ext cx="114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9" name="Google Shape;329;p5"/>
          <p:cNvCxnSpPr/>
          <p:nvPr/>
        </p:nvCxnSpPr>
        <p:spPr>
          <a:xfrm rot="10800000">
            <a:off x="2930000" y="2688571"/>
            <a:ext cx="0" cy="3271429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0" name="Google Shape;330;p5"/>
          <p:cNvCxnSpPr/>
          <p:nvPr/>
        </p:nvCxnSpPr>
        <p:spPr>
          <a:xfrm>
            <a:off x="2930000" y="2688571"/>
            <a:ext cx="25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1" name="Google Shape;331;p5"/>
          <p:cNvCxnSpPr/>
          <p:nvPr/>
        </p:nvCxnSpPr>
        <p:spPr>
          <a:xfrm>
            <a:off x="5480000" y="5574996"/>
            <a:ext cx="18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2" name="Google Shape;332;p5"/>
          <p:cNvCxnSpPr/>
          <p:nvPr/>
        </p:nvCxnSpPr>
        <p:spPr>
          <a:xfrm>
            <a:off x="5580000" y="6075000"/>
            <a:ext cx="8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3" name="Google Shape;333;p5"/>
          <p:cNvCxnSpPr/>
          <p:nvPr/>
        </p:nvCxnSpPr>
        <p:spPr>
          <a:xfrm rot="10800000">
            <a:off x="5660000" y="2885714"/>
            <a:ext cx="0" cy="3189286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4" name="Google Shape;334;p5"/>
          <p:cNvCxnSpPr/>
          <p:nvPr/>
        </p:nvCxnSpPr>
        <p:spPr>
          <a:xfrm>
            <a:off x="5660000" y="2885714"/>
            <a:ext cx="120000" cy="0"/>
          </a:xfrm>
          <a:prstGeom prst="straightConnector1">
            <a:avLst/>
          </a:prstGeom>
          <a:noFill/>
          <a:ln w="12700" cap="flat" cmpd="sng">
            <a:solidFill>
              <a:srgbClr val="555555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Framework capabilities</a:t>
            </a: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36" name="Google Shape;436;p7"/>
          <p:cNvSpPr txBox="1"/>
          <p:nvPr/>
        </p:nvSpPr>
        <p:spPr>
          <a:xfrm>
            <a:off x="640080" y="1250000"/>
            <a:ext cx="786384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What it supports</a:t>
            </a:r>
            <a:endParaRPr/>
          </a:p>
        </p:txBody>
      </p:sp>
      <p:cxnSp>
        <p:nvCxnSpPr>
          <p:cNvPr id="437" name="Google Shape;437;p7"/>
          <p:cNvCxnSpPr/>
          <p:nvPr/>
        </p:nvCxnSpPr>
        <p:spPr>
          <a:xfrm>
            <a:off x="640080" y="1600000"/>
            <a:ext cx="7863840" cy="0"/>
          </a:xfrm>
          <a:prstGeom prst="straightConnector1">
            <a:avLst/>
          </a:prstGeom>
          <a:noFill/>
          <a:ln w="12700" cap="flat" cmpd="sng">
            <a:solidFill>
              <a:srgbClr val="582C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" name="Google Shape;438;p7"/>
          <p:cNvSpPr/>
          <p:nvPr/>
        </p:nvSpPr>
        <p:spPr>
          <a:xfrm>
            <a:off x="640080" y="168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5 datasets</a:t>
            </a:r>
            <a:endParaRPr/>
          </a:p>
        </p:txBody>
      </p:sp>
      <p:sp>
        <p:nvSpPr>
          <p:cNvPr id="439" name="Google Shape;439;p7"/>
          <p:cNvSpPr/>
          <p:nvPr/>
        </p:nvSpPr>
        <p:spPr>
          <a:xfrm>
            <a:off x="2643540" y="168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 models</a:t>
            </a:r>
            <a:endParaRPr/>
          </a:p>
        </p:txBody>
      </p:sp>
      <p:sp>
        <p:nvSpPr>
          <p:cNvPr id="440" name="Google Shape;440;p7"/>
          <p:cNvSpPr/>
          <p:nvPr/>
        </p:nvSpPr>
        <p:spPr>
          <a:xfrm>
            <a:off x="4647000" y="168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Unlearning methods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7 methods</a:t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6650460" y="168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Scenarios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 scenarios</a:t>
            </a:r>
            <a:endParaRPr/>
          </a:p>
        </p:txBody>
      </p:sp>
      <p:sp>
        <p:nvSpPr>
          <p:cNvPr id="442" name="Google Shape;442;p7"/>
          <p:cNvSpPr txBox="1"/>
          <p:nvPr/>
        </p:nvSpPr>
        <p:spPr>
          <a:xfrm>
            <a:off x="640080" y="2340000"/>
            <a:ext cx="786384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Registry-based: implement an interface, register it, select it at runtime.</a:t>
            </a:r>
            <a:endParaRPr/>
          </a:p>
        </p:txBody>
      </p:sp>
      <p:sp>
        <p:nvSpPr>
          <p:cNvPr id="443" name="Google Shape;443;p7"/>
          <p:cNvSpPr/>
          <p:nvPr/>
        </p:nvSpPr>
        <p:spPr>
          <a:xfrm>
            <a:off x="640080" y="271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Accelerators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4 types</a:t>
            </a:r>
            <a:endParaRPr/>
          </a:p>
        </p:txBody>
      </p:sp>
      <p:sp>
        <p:nvSpPr>
          <p:cNvPr id="444" name="Google Shape;444;p7"/>
          <p:cNvSpPr/>
          <p:nvPr/>
        </p:nvSpPr>
        <p:spPr>
          <a:xfrm>
            <a:off x="2643540" y="271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14 modes</a:t>
            </a: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4647000" y="271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Distributed training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 strategies</a:t>
            </a:r>
            <a:endParaRPr/>
          </a:p>
        </p:txBody>
      </p:sp>
      <p:sp>
        <p:nvSpPr>
          <p:cNvPr id="446" name="Google Shape;446;p7"/>
          <p:cNvSpPr txBox="1"/>
          <p:nvPr/>
        </p:nvSpPr>
        <p:spPr>
          <a:xfrm>
            <a:off x="640080" y="3370000"/>
            <a:ext cx="786384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Runtime options provided through Lightning Fabric.</a:t>
            </a:r>
            <a:endParaRPr/>
          </a:p>
        </p:txBody>
      </p:sp>
      <p:sp>
        <p:nvSpPr>
          <p:cNvPr id="447" name="Google Shape;447;p7"/>
          <p:cNvSpPr txBox="1"/>
          <p:nvPr/>
        </p:nvSpPr>
        <p:spPr>
          <a:xfrm>
            <a:off x="640080" y="3930000"/>
            <a:ext cx="786384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What it evaluates: 7 criteria, 20 metrics</a:t>
            </a:r>
            <a:endParaRPr/>
          </a:p>
        </p:txBody>
      </p:sp>
      <p:cxnSp>
        <p:nvCxnSpPr>
          <p:cNvPr id="448" name="Google Shape;448;p7"/>
          <p:cNvCxnSpPr/>
          <p:nvPr/>
        </p:nvCxnSpPr>
        <p:spPr>
          <a:xfrm>
            <a:off x="640080" y="4280000"/>
            <a:ext cx="7863840" cy="0"/>
          </a:xfrm>
          <a:prstGeom prst="straightConnector1">
            <a:avLst/>
          </a:prstGeom>
          <a:noFill/>
          <a:ln w="12700" cap="flat" cmpd="sng">
            <a:solidFill>
              <a:srgbClr val="582C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9" name="Google Shape;449;p7"/>
          <p:cNvSpPr/>
          <p:nvPr/>
        </p:nvSpPr>
        <p:spPr>
          <a:xfrm>
            <a:off x="640080" y="436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Behavioural equivalence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 metrics</a:t>
            </a:r>
            <a:endParaRPr/>
          </a:p>
        </p:txBody>
      </p:sp>
      <p:sp>
        <p:nvSpPr>
          <p:cNvPr id="450" name="Google Shape;450;p7"/>
          <p:cNvSpPr/>
          <p:nvPr/>
        </p:nvSpPr>
        <p:spPr>
          <a:xfrm>
            <a:off x="2643540" y="436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Parametric equivalence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 metric</a:t>
            </a:r>
            <a:endParaRPr/>
          </a:p>
        </p:txBody>
      </p:sp>
      <p:sp>
        <p:nvSpPr>
          <p:cNvPr id="451" name="Google Shape;451;p7"/>
          <p:cNvSpPr/>
          <p:nvPr/>
        </p:nvSpPr>
        <p:spPr>
          <a:xfrm>
            <a:off x="4647000" y="436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 metric</a:t>
            </a:r>
            <a:endParaRPr/>
          </a:p>
        </p:txBody>
      </p:sp>
      <p:sp>
        <p:nvSpPr>
          <p:cNvPr id="452" name="Google Shape;452;p7"/>
          <p:cNvSpPr/>
          <p:nvPr/>
        </p:nvSpPr>
        <p:spPr>
          <a:xfrm>
            <a:off x="6650460" y="436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Forgetting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5 metrics</a:t>
            </a:r>
            <a:endParaRPr/>
          </a:p>
        </p:txBody>
      </p:sp>
      <p:sp>
        <p:nvSpPr>
          <p:cNvPr id="453" name="Google Shape;453;p7"/>
          <p:cNvSpPr/>
          <p:nvPr/>
        </p:nvSpPr>
        <p:spPr>
          <a:xfrm>
            <a:off x="640080" y="511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Utility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7 metrics</a:t>
            </a:r>
            <a:endParaRPr/>
          </a:p>
        </p:txBody>
      </p:sp>
      <p:sp>
        <p:nvSpPr>
          <p:cNvPr id="454" name="Google Shape;454;p7"/>
          <p:cNvSpPr/>
          <p:nvPr/>
        </p:nvSpPr>
        <p:spPr>
          <a:xfrm>
            <a:off x="2643540" y="511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 metric</a:t>
            </a:r>
            <a:endParaRPr/>
          </a:p>
        </p:txBody>
      </p:sp>
      <p:sp>
        <p:nvSpPr>
          <p:cNvPr id="455" name="Google Shape;455;p7"/>
          <p:cNvSpPr/>
          <p:nvPr/>
        </p:nvSpPr>
        <p:spPr>
          <a:xfrm>
            <a:off x="4647000" y="5110000"/>
            <a:ext cx="1853460" cy="620000"/>
          </a:xfrm>
          <a:prstGeom prst="roundRect">
            <a:avLst>
              <a:gd name="adj" fmla="val 15000"/>
            </a:avLst>
          </a:prstGeom>
          <a:solidFill>
            <a:srgbClr val="F3EEF8"/>
          </a:solidFill>
          <a:ln>
            <a:noFill/>
          </a:ln>
        </p:spPr>
        <p:txBody>
          <a:bodyPr spcFirstLastPara="1" wrap="square" lIns="60000" tIns="0" rIns="600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Resources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 metrics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Framework in action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3450000" y="1800000"/>
            <a:ext cx="110000" cy="110000"/>
          </a:xfrm>
          <a:prstGeom prst="rect">
            <a:avLst/>
          </a:prstGeom>
          <a:solidFill>
            <a:srgbClr val="582C8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3640000" y="1755000"/>
            <a:ext cx="9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4750000" y="1800000"/>
            <a:ext cx="110000" cy="110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4940000" y="1755000"/>
            <a:ext cx="9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ViT</a:t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7" name="Google Shape;467;p8"/>
          <p:cNvGraphicFramePr/>
          <p:nvPr/>
        </p:nvGraphicFramePr>
        <p:xfrm>
          <a:off x="640080" y="2050000"/>
          <a:ext cx="3800000" cy="3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68" name="Google Shape;468;p8"/>
          <p:cNvGraphicFramePr/>
          <p:nvPr/>
        </p:nvGraphicFramePr>
        <p:xfrm>
          <a:off x="4703920" y="2050000"/>
          <a:ext cx="3800000" cy="3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69" name="Google Shape;469;p8"/>
          <p:cNvSpPr txBox="1"/>
          <p:nvPr/>
        </p:nvSpPr>
        <p:spPr>
          <a:xfrm>
            <a:off x="640080" y="1140000"/>
            <a:ext cx="786384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lang="en-US" sz="12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Pins Face Recognition</a:t>
            </a:r>
            <a:r>
              <a:rPr lang="en-US" sz="1200" b="1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 ·   Models: </a:t>
            </a:r>
            <a:r>
              <a:rPr lang="en-US" sz="12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ResNet18, ViT</a:t>
            </a:r>
            <a:r>
              <a:rPr lang="en-US" sz="1200" b="1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 ·   Scenario: </a:t>
            </a:r>
            <a:r>
              <a:rPr lang="en-US" sz="12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full-class unlearning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Seeds: </a:t>
            </a:r>
            <a:r>
              <a:rPr lang="en-US" sz="12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10 training seeds, one unlearning seed each (mean ± std)</a:t>
            </a:r>
            <a:r>
              <a:rPr lang="en-US" sz="1200" b="1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 ·   Reference: </a:t>
            </a:r>
            <a:r>
              <a:rPr lang="en-US" sz="1200" b="0" i="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retrained model</a:t>
            </a:r>
            <a:endParaRPr/>
          </a:p>
        </p:txBody>
      </p:sp>
      <p:sp>
        <p:nvSpPr>
          <p:cNvPr id="470" name="Google Shape;470;p8"/>
          <p:cNvSpPr txBox="1"/>
          <p:nvPr/>
        </p:nvSpPr>
        <p:spPr>
          <a:xfrm>
            <a:off x="640080" y="5480000"/>
            <a:ext cx="380000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Finding 1: results vary across training seeds.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One seed is not enough.</a:t>
            </a:r>
            <a:endParaRPr/>
          </a:p>
        </p:txBody>
      </p:sp>
      <p:sp>
        <p:nvSpPr>
          <p:cNvPr id="471" name="Google Shape;471;p8"/>
          <p:cNvSpPr txBox="1"/>
          <p:nvPr/>
        </p:nvSpPr>
        <p:spPr>
          <a:xfrm>
            <a:off x="4703920" y="5480000"/>
            <a:ext cx="380000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Finding 2: different criteria disagree.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One metric is not enough.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2C83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9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of contributions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640080" y="1554480"/>
            <a:ext cx="2445386" cy="2700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914400" y="1783080"/>
            <a:ext cx="420624" cy="420624"/>
          </a:xfrm>
          <a:prstGeom prst="ellipse">
            <a:avLst/>
          </a:prstGeom>
          <a:solidFill>
            <a:srgbClr val="582C8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914400" y="17830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914400" y="2280000"/>
            <a:ext cx="1896746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215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2215F"/>
                </a:solidFill>
                <a:latin typeface="Arial"/>
                <a:ea typeface="Arial"/>
                <a:cs typeface="Arial"/>
                <a:sym typeface="Arial"/>
              </a:rPr>
              <a:t>Extensible framework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914400" y="2950000"/>
            <a:ext cx="1896746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Add your own method, metric, model or dataset without changing the framework’s code.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3349306" y="1554480"/>
            <a:ext cx="2445386" cy="2700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3623626" y="1783080"/>
            <a:ext cx="420624" cy="420624"/>
          </a:xfrm>
          <a:prstGeom prst="ellipse">
            <a:avLst/>
          </a:prstGeom>
          <a:solidFill>
            <a:srgbClr val="582C8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3623626" y="17830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3623626" y="2280000"/>
            <a:ext cx="1896746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215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2215F"/>
                </a:solidFill>
                <a:latin typeface="Arial"/>
                <a:ea typeface="Arial"/>
                <a:cs typeface="Arial"/>
                <a:sym typeface="Arial"/>
              </a:rPr>
              <a:t>Multi-GPU, all stages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3623626" y="2950000"/>
            <a:ext cx="1896746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Training, unlearning and evaluation all distribute across GPUs.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6058532" y="1554480"/>
            <a:ext cx="2445386" cy="2700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6332852" y="1783080"/>
            <a:ext cx="420624" cy="420624"/>
          </a:xfrm>
          <a:prstGeom prst="ellipse">
            <a:avLst/>
          </a:prstGeom>
          <a:solidFill>
            <a:srgbClr val="582C8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6332852" y="17830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6332852" y="2280000"/>
            <a:ext cx="1896746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215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2215F"/>
                </a:solidFill>
                <a:latin typeface="Arial"/>
                <a:ea typeface="Arial"/>
                <a:cs typeface="Arial"/>
                <a:sym typeface="Arial"/>
              </a:rPr>
              <a:t>What it showed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6332852" y="2950000"/>
            <a:ext cx="1896746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Results shift from seed to seed, and metrics disagree. One seed and one metric are not enough.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914400" y="470916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C9E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8C9E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640080" y="576072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F1EB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 txBox="1"/>
          <p:nvPr/>
        </p:nvSpPr>
        <p:spPr>
          <a:xfrm>
            <a:off x="914400" y="576072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215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42215F"/>
                </a:solidFill>
                <a:latin typeface="Arial"/>
                <a:ea typeface="Arial"/>
                <a:cs typeface="Arial"/>
                <a:sym typeface="Arial"/>
              </a:rPr>
              <a:t>Petros Andreou</a:t>
            </a:r>
            <a:r>
              <a:rPr lang="en-US" sz="115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  ·   p.andreou2@lboro.ac.uk   ·   pedroandreou.github.io/supreme-unlearning-page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4004564" y="4338330"/>
            <a:ext cx="1134872" cy="1380744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12700" cap="flat" cmpd="sng">
            <a:solidFill>
              <a:srgbClr val="582C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9" descr="/home/claude/qr_supreme_p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9391" y="4373358"/>
            <a:ext cx="985218" cy="98521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/>
          <p:nvPr/>
        </p:nvSpPr>
        <p:spPr>
          <a:xfrm>
            <a:off x="4004564" y="5393604"/>
            <a:ext cx="1134872" cy="21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paper · code · BibTeX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Backup: full results (1/2)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640080" y="102412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Accuracy differences and layer-wise distance  ·  mean ± std across 10 seeds</a:t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9186" y="1450000"/>
            <a:ext cx="6365627" cy="5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1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582C83"/>
                </a:solidFill>
                <a:latin typeface="Arial"/>
                <a:ea typeface="Arial"/>
                <a:cs typeface="Arial"/>
                <a:sym typeface="Arial"/>
              </a:rPr>
              <a:t>Backup: full results (2/2)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640080" y="102412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Activation distances and membership-inference difference  ·  mean ± std across 10 seeds</a:t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8183880" y="64739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7" name="Google Shape;517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2741" y="1450000"/>
            <a:ext cx="5758518" cy="5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Microsoft Macintosh PowerPoint</Application>
  <PresentationFormat>On-screen Show (4:3)</PresentationFormat>
  <Paragraphs>296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Petros Andreou</cp:lastModifiedBy>
  <cp:revision>1</cp:revision>
  <dcterms:created xsi:type="dcterms:W3CDTF">2026-08-13T19:36:29Z</dcterms:created>
  <dcterms:modified xsi:type="dcterms:W3CDTF">2026-09-09T08:46:30Z</dcterms:modified>
</cp:coreProperties>
</file>